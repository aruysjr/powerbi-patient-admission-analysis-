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Slab" pitchFamily="2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318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0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82676"/>
            <a:ext cx="6296860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Well-Life Hospital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5233360" y="298132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Report 2021–2024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85544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analysis of patient admissions, demographics, diagnoses, and 2025 forecasts to guide strategic resource planning.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by </a:t>
            </a:r>
            <a:r>
              <a:rPr lang="en-US" sz="1450" b="1" i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Aruya</a:t>
            </a:r>
            <a:endParaRPr lang="en-US" sz="14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5E20F5-C685-FD1F-8744-431C234C5D59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39552"/>
            <a:ext cx="1624766" cy="246856"/>
          </a:xfrm>
          <a:prstGeom prst="roundRect">
            <a:avLst>
              <a:gd name="adj" fmla="val 789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30791" y="588268"/>
            <a:ext cx="2039490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ADMISSIONS OVERVIEW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842169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Patient Admissions: 10,000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5233360" y="1559123"/>
            <a:ext cx="6296860" cy="903982"/>
          </a:xfrm>
          <a:prstGeom prst="roundRect">
            <a:avLst>
              <a:gd name="adj" fmla="val 2695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95778" y="1721545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395778" y="2059087"/>
            <a:ext cx="597202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10,000 patients admitted between 2021 and 2024, rising from 1,409 to 3,266.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33360" y="2602607"/>
            <a:ext cx="6296860" cy="1145580"/>
          </a:xfrm>
          <a:prstGeom prst="roundRect">
            <a:avLst>
              <a:gd name="adj" fmla="val 212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95778" y="2765028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395778" y="3102570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Admissions more than doubled over four years, reflecting substantial patient volume growth.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33360" y="3887688"/>
            <a:ext cx="6296860" cy="1145580"/>
          </a:xfrm>
          <a:prstGeom prst="roundRect">
            <a:avLst>
              <a:gd name="adj" fmla="val 212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95778" y="4050109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395778" y="4387652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four-year volume as a baseline for staffing, beds, medications, and supplies planning.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233360" y="5172770"/>
            <a:ext cx="6296860" cy="1145580"/>
          </a:xfrm>
          <a:prstGeom prst="roundRect">
            <a:avLst>
              <a:gd name="adj" fmla="val 212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95778" y="5335191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395778" y="5672733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resource allocation and improved preparedness for future admission increases.</a:t>
            </a:r>
            <a:endParaRPr lang="en-US" sz="12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4559258-C650-1FE0-89DA-3AE1BDDEF348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1536"/>
            <a:ext cx="1306777" cy="264616"/>
          </a:xfrm>
          <a:prstGeom prst="roundRect">
            <a:avLst>
              <a:gd name="adj" fmla="val 7902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5950" y="593725"/>
            <a:ext cx="1707413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ANNUAL TRENDS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7034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Year-by-Year Admissions Growth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6440"/>
            <a:ext cx="5221851" cy="3758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4719" y="181639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14719" y="2249190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Admissions rose every year: 1,409 (2021) → 3,266 (2024). Largest jump occurred 2021–2022; growth slowed in 2024.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14719" y="294540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14719" y="3378200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Admissions more than doubled. Slower 2024 growth warrants monitoring.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14719" y="407441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14719" y="4507210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Adjust staffing and supplies based on recent patterns, not just historical averages.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14719" y="520342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14719" y="5636220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Accommodate rising demand without pressure on staff, beds, or supplies.</a:t>
            </a:r>
            <a:endParaRPr lang="en-US" sz="13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6257CB2-0905-144F-15DA-7D4360674A59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2811"/>
            <a:ext cx="1715747" cy="246856"/>
          </a:xfrm>
          <a:prstGeom prst="roundRect">
            <a:avLst>
              <a:gd name="adj" fmla="val 789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05" y="631527"/>
            <a:ext cx="2130471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DEMOGRAPHICS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85428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Patient Age: 44 Years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76338"/>
            <a:ext cx="6925990" cy="3924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0084" y="1741884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90084" y="2135188"/>
            <a:ext cx="354648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average age of admitted patients was </a:t>
            </a:r>
            <a:r>
              <a:rPr lang="en-US" sz="12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44 years</a:t>
            </a: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centered on middle-aged adults.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90084" y="2757884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90084" y="3151188"/>
            <a:ext cx="3546485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patient population is primarily working-age adults, requiring strong adult-care services.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990084" y="3773884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90084" y="4167187"/>
            <a:ext cx="3546485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robust adult-care services while ensuring adequate capacity for younger and older patients.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990084" y="5031482"/>
            <a:ext cx="3546485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990084" y="5424785"/>
            <a:ext cx="3546485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balanced healthcare resource allocation and improved access across all major age groups.</a:t>
            </a:r>
            <a:endParaRPr lang="en-US" sz="12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5138BE-9B9F-907B-7293-6BF25CE20B3A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1536"/>
            <a:ext cx="1840263" cy="264616"/>
          </a:xfrm>
          <a:prstGeom prst="roundRect">
            <a:avLst>
              <a:gd name="adj" fmla="val 7902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5950" y="593725"/>
            <a:ext cx="2240899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DEMOGRAPHICS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7034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Admissions by Age Group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6440"/>
            <a:ext cx="5221851" cy="3758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4719" y="181639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14719" y="2249190"/>
            <a:ext cx="5221851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31–40 age group led with 2,351 admissions (23.51%), followed by 21–30 at 2,022 (20.22%). Ages 21–60 account for </a:t>
            </a:r>
            <a:r>
              <a:rPr lang="en-US" sz="13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~79.6%</a:t>
            </a: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all admissions.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14719" y="3213199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14719" y="3645991"/>
            <a:ext cx="583143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Working-age adults are the dominant patient population.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14719" y="407441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14719" y="4507210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adult healthcare resources while maintaining services for elderly patients (61+).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14719" y="520342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14719" y="5636220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delivery for the largest patient group while maintaining care across all age groups.</a:t>
            </a:r>
            <a:endParaRPr lang="en-US" sz="13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E5A8D1-3B87-A87C-8EEB-C66650BE32AE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631726"/>
            <a:ext cx="1403712" cy="201811"/>
          </a:xfrm>
          <a:prstGeom prst="roundRect">
            <a:avLst>
              <a:gd name="adj" fmla="val 7903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13031" y="671513"/>
            <a:ext cx="1853955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DEMOGRAPHICS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33360" y="870843"/>
            <a:ext cx="6296860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Gender Distribution of Admissions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233360" y="1426270"/>
            <a:ext cx="6296860" cy="1420813"/>
          </a:xfrm>
          <a:prstGeom prst="roundRect">
            <a:avLst>
              <a:gd name="adj" fmla="val 140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233360" y="1426270"/>
            <a:ext cx="6296860" cy="710406"/>
          </a:xfrm>
          <a:custGeom>
            <a:avLst/>
            <a:gdLst/>
            <a:ahLst/>
            <a:cxnLst/>
            <a:rect l="l" t="t" r="r" b="b"/>
            <a:pathLst>
              <a:path w="6296860" h="710406">
                <a:moveTo>
                  <a:pt x="16613" y="0"/>
                </a:moveTo>
                <a:lnTo>
                  <a:pt x="6280247" y="0"/>
                </a:lnTo>
                <a:arcTo wR="16613" hR="16613" stAng="16200000" swAng="5400000"/>
                <a:lnTo>
                  <a:pt x="6296860" y="710406"/>
                </a:lnTo>
                <a:lnTo>
                  <a:pt x="0" y="710406"/>
                </a:lnTo>
                <a:lnTo>
                  <a:pt x="0" y="16613"/>
                </a:lnTo>
                <a:arcTo wR="16613" hR="16613" stAng="10800000" swAng="5400000"/>
                <a:close/>
              </a:path>
            </a:pathLst>
          </a:cu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66211" y="1559123"/>
            <a:ext cx="603115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Male Patients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66211" y="1822748"/>
            <a:ext cx="6031158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5,681 admissions — </a:t>
            </a:r>
            <a:r>
              <a:rPr lang="en-US" sz="10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56.81%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3360" y="2136676"/>
            <a:ext cx="6296860" cy="710406"/>
          </a:xfrm>
          <a:custGeom>
            <a:avLst/>
            <a:gdLst/>
            <a:ahLst/>
            <a:cxnLst/>
            <a:rect l="l" t="t" r="r" b="b"/>
            <a:pathLst>
              <a:path w="6296860" h="710406">
                <a:moveTo>
                  <a:pt x="0" y="0"/>
                </a:moveTo>
                <a:lnTo>
                  <a:pt x="6296860" y="0"/>
                </a:lnTo>
                <a:lnTo>
                  <a:pt x="6296860" y="693793"/>
                </a:lnTo>
                <a:arcTo wR="16613" hR="16613" stAng="0" swAng="5400000"/>
                <a:lnTo>
                  <a:pt x="16613" y="710406"/>
                </a:lnTo>
                <a:arcTo wR="16613" hR="16613" stAng="5400000" swAng="5400000"/>
                <a:lnTo>
                  <a:pt x="0" y="0"/>
                </a:lnTo>
                <a:close/>
              </a:path>
            </a:pathLst>
          </a:cu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33360" y="2136676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66211" y="2269530"/>
            <a:ext cx="6031158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Female Patients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6211" y="2533154"/>
            <a:ext cx="6031158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4,319 admissions — </a:t>
            </a:r>
            <a:r>
              <a:rPr lang="en-US" sz="10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43.19%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952155"/>
            <a:ext cx="6296860" cy="7485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61459" y="3104059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61459" y="3367683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admissions exceeded female by 13.62 percentage points.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794026"/>
            <a:ext cx="6296860" cy="7485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61459" y="3945930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61459" y="4209554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admissions were approximately 13.62 percentage points higher than female admissions.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635897"/>
            <a:ext cx="6296860" cy="7485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61459" y="4787801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61459" y="5051425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quality care for both genders while investigating factors behind lower female admissions.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477768"/>
            <a:ext cx="6296860" cy="7485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61459" y="5629672"/>
            <a:ext cx="5916861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461459" y="5893296"/>
            <a:ext cx="5916861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healthcare access and better understanding of gender-based admission patterns.</a:t>
            </a:r>
            <a:endParaRPr lang="en-US" sz="10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8306488-4653-56C4-F422-6B9DA84994DD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484"/>
            <a:ext cx="1638755" cy="273645"/>
          </a:xfrm>
          <a:prstGeom prst="roundRect">
            <a:avLst>
              <a:gd name="adj" fmla="val 7900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9521" y="589459"/>
            <a:ext cx="2032247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DIAGNOSIS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7778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Seven Unique Diagnoses Recorded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91605"/>
            <a:ext cx="5214609" cy="37535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21961" y="187007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21961" y="2323207"/>
            <a:ext cx="52146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unique diagnoses recorded. Typhoid led (1,487); Stroke was lowest (1,390) — only 97 patients apart.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21961" y="3057823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321961" y="3510955"/>
            <a:ext cx="582419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Admissions are evenly distributed across all seven conditions.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21961" y="3964087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321961" y="4417219"/>
            <a:ext cx="52146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adequate medication, equipment, and trained staff across all seven conditions.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21961" y="5151834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321961" y="5604966"/>
            <a:ext cx="52146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ability to respond effectively to demand across all major diagnosis groups.</a:t>
            </a:r>
            <a:endParaRPr lang="en-US" sz="1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D99120-EC37-6226-46CF-D1FD260B6F19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1536"/>
            <a:ext cx="1584583" cy="264616"/>
          </a:xfrm>
          <a:prstGeom prst="roundRect">
            <a:avLst>
              <a:gd name="adj" fmla="val 7902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5950" y="593725"/>
            <a:ext cx="1985218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DIAGNOSIS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7034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Chronic vs. Infectious Diseases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36440"/>
            <a:ext cx="5221851" cy="3758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14719" y="1816398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314719" y="2249190"/>
            <a:ext cx="5221851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Chronic diseases (Diabetes, Hypertension, Stroke, Asthma, Ulcer): </a:t>
            </a:r>
            <a:r>
              <a:rPr lang="en-US" sz="13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7,077 admissions (70.77%)</a:t>
            </a: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Infectious diseases (Malaria, Typhoid): </a:t>
            </a:r>
            <a:r>
              <a:rPr lang="en-US" sz="13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2,923 admissions (29.23%)</a:t>
            </a: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14719" y="3213199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14719" y="3645991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Chronic conditions generated more than twice the admissions of infectious diseases.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14719" y="4342209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14719" y="4775002"/>
            <a:ext cx="522185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Allocate more resources to chronic disease care while maintaining infectious disease capacity.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14719" y="5471220"/>
            <a:ext cx="522185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14719" y="5904012"/>
            <a:ext cx="583143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management of both chronic and infectious diseases.</a:t>
            </a:r>
            <a:endParaRPr lang="en-US" sz="13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970FC2-48AC-DF9F-5F26-D2A1D4498A2F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39254"/>
            <a:ext cx="863380" cy="183952"/>
          </a:xfrm>
          <a:prstGeom prst="roundRect">
            <a:avLst>
              <a:gd name="adj" fmla="val 7899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05987" y="575568"/>
            <a:ext cx="1327712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2025 FORECAST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33360" y="754162"/>
            <a:ext cx="6296860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Q1 2025 Admission Forecast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5233360" y="1309291"/>
            <a:ext cx="3099913" cy="3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752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233360" y="1827609"/>
            <a:ext cx="3099913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Estimated Admissions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233360" y="2063353"/>
            <a:ext cx="3099913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Forecast for Q1 2025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430208" y="1309291"/>
            <a:ext cx="3100012" cy="3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567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8430208" y="1827609"/>
            <a:ext cx="310001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Lower Bound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30208" y="2063353"/>
            <a:ext cx="310001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 confidence interval minimum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31735" y="2437805"/>
            <a:ext cx="3100012" cy="399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937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6831735" y="2956123"/>
            <a:ext cx="310001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Upper Bound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831735" y="3191867"/>
            <a:ext cx="3100012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 confidence interval maximum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37930"/>
            <a:ext cx="6296860" cy="6620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7903" y="3571677"/>
            <a:ext cx="597857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417903" y="3807420"/>
            <a:ext cx="597857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Forecast estimates 752 admissions for Q1 2025, with a 95% confidence interval of 567–937 patients.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177506"/>
            <a:ext cx="6296860" cy="6620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17903" y="4311253"/>
            <a:ext cx="597857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17903" y="4546997"/>
            <a:ext cx="597857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 demand could reasonably range between 567 and 937 patients.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917083"/>
            <a:ext cx="6296860" cy="6620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7903" y="5050830"/>
            <a:ext cx="597857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17903" y="5286573"/>
            <a:ext cx="597857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 staffing, medications, and beds for 752 patients while maintaining capacity for up to 937.</a:t>
            </a:r>
            <a:endParaRPr lang="en-US" sz="9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656659"/>
            <a:ext cx="6296860" cy="66208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17903" y="5790406"/>
            <a:ext cx="597857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Outcome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5417903" y="6026150"/>
            <a:ext cx="5978574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preparedness, reduced resource pressure, and efficient allocation in Q1 2025.</a:t>
            </a:r>
            <a:endParaRPr lang="en-US" sz="95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B25BDD8-79F3-3E6A-1765-2A4417EEE4C0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6482"/>
            <a:ext cx="1759997" cy="201811"/>
          </a:xfrm>
          <a:prstGeom prst="roundRect">
            <a:avLst>
              <a:gd name="adj" fmla="val 7903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1146" y="626269"/>
            <a:ext cx="2210241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25599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Resource Planning for 2025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1026"/>
            <a:ext cx="10868745" cy="7974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6612" y="1655167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05488" y="1532930"/>
            <a:ext cx="1007283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Volume Planning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05488" y="1796554"/>
            <a:ext cx="1007283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for </a:t>
            </a:r>
            <a:r>
              <a:rPr lang="en-US" sz="10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3,300–3,500 admissions</a:t>
            </a: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(~800–900/quarter) with a 10–15% capacity buffer.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71812"/>
            <a:ext cx="10868745" cy="7974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6612" y="2545953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05488" y="2423716"/>
            <a:ext cx="1007283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Chronic Disease Capacity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05488" y="2687340"/>
            <a:ext cx="1007283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Allocate more staff, medications, and equipment for diabetes, hypertension, and asthma.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62598"/>
            <a:ext cx="10868745" cy="79742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6612" y="3436739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05488" y="3314502"/>
            <a:ext cx="1007283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Infectious Disease Readiness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305488" y="3578126"/>
            <a:ext cx="1007283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Stock sufficient medications, test kits, and supplies for malaria and typhoid.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53384"/>
            <a:ext cx="10868745" cy="79742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6612" y="4327525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305488" y="4205287"/>
            <a:ext cx="1007283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Adult Services Priority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305488" y="4468912"/>
            <a:ext cx="1007283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Strengthen staffing, screening, and treatment capacity for adults aged 21–60.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44170"/>
            <a:ext cx="10868745" cy="79742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46612" y="5218311"/>
            <a:ext cx="19932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305488" y="5096073"/>
            <a:ext cx="1007283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Balanced Diagnosis Coverage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305488" y="5359698"/>
            <a:ext cx="1007283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adequate supplies, equipment, and clinical capacity across all seven diagnoses.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61475" y="5846663"/>
            <a:ext cx="10868745" cy="424755"/>
          </a:xfrm>
          <a:prstGeom prst="roundRect">
            <a:avLst>
              <a:gd name="adj" fmla="val 4693"/>
            </a:avLst>
          </a:prstGeom>
          <a:solidFill>
            <a:srgbClr val="0D3E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25" y="5983883"/>
            <a:ext cx="166088" cy="13285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3264" y="5973167"/>
            <a:ext cx="1091369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Prepared by Aruya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Well-Life Hospital Data Report, 2021–2024</a:t>
            </a:r>
            <a:endParaRPr lang="en-US" sz="10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5624DF5-6D9B-B2EA-736D-9076138CE99D}"/>
              </a:ext>
            </a:extLst>
          </p:cNvPr>
          <p:cNvSpPr/>
          <p:nvPr/>
        </p:nvSpPr>
        <p:spPr>
          <a:xfrm>
            <a:off x="10963469" y="6438122"/>
            <a:ext cx="1228531" cy="419878"/>
          </a:xfrm>
          <a:prstGeom prst="roundRect">
            <a:avLst/>
          </a:prstGeom>
          <a:solidFill>
            <a:srgbClr val="2027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742</Words>
  <Application>Microsoft Office PowerPoint</Application>
  <PresentationFormat>Widescreen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</vt:lpstr>
      <vt:lpstr>Roboto Slab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Aruya promise</cp:lastModifiedBy>
  <cp:revision>2</cp:revision>
  <dcterms:created xsi:type="dcterms:W3CDTF">2026-10-05T10:20:37Z</dcterms:created>
  <dcterms:modified xsi:type="dcterms:W3CDTF">2026-10-05T10:22:08Z</dcterms:modified>
</cp:coreProperties>
</file>